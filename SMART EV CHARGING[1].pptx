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63" r:id="rId5"/>
    <p:sldId id="261" r:id="rId6"/>
    <p:sldId id="259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0C6DF-EC26-4157-819F-233016950EA7}" v="1" dt="2025-10-09T09:05:15.998"/>
    <p1510:client id="{F37BF8A9-6FF3-4066-A450-7441762FB8EE}" v="118" dt="2025-10-08T12:37:48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9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th M" userId="87b9c4dfd4b97f2c" providerId="LiveId" clId="{496C41AC-D037-4019-9786-62CB15C418BC}"/>
    <pc:docChg chg="modSld">
      <pc:chgData name="Samarth M" userId="87b9c4dfd4b97f2c" providerId="LiveId" clId="{496C41AC-D037-4019-9786-62CB15C418BC}" dt="2025-10-09T09:06:08.526" v="61" actId="14100"/>
      <pc:docMkLst>
        <pc:docMk/>
      </pc:docMkLst>
      <pc:sldChg chg="addSp modSp mod">
        <pc:chgData name="Samarth M" userId="87b9c4dfd4b97f2c" providerId="LiveId" clId="{496C41AC-D037-4019-9786-62CB15C418BC}" dt="2025-10-09T09:06:08.526" v="61" actId="14100"/>
        <pc:sldMkLst>
          <pc:docMk/>
          <pc:sldMk cId="888167858" sldId="256"/>
        </pc:sldMkLst>
        <pc:spChg chg="mod">
          <ac:chgData name="Samarth M" userId="87b9c4dfd4b97f2c" providerId="LiveId" clId="{496C41AC-D037-4019-9786-62CB15C418BC}" dt="2025-10-09T09:04:57.487" v="1" actId="120"/>
          <ac:spMkLst>
            <pc:docMk/>
            <pc:sldMk cId="888167858" sldId="256"/>
            <ac:spMk id="2" creationId="{103F2324-37E6-C2EA-B8AB-3040ADFF08C3}"/>
          </ac:spMkLst>
        </pc:spChg>
        <pc:spChg chg="add mod">
          <ac:chgData name="Samarth M" userId="87b9c4dfd4b97f2c" providerId="LiveId" clId="{496C41AC-D037-4019-9786-62CB15C418BC}" dt="2025-10-09T09:06:08.526" v="61" actId="14100"/>
          <ac:spMkLst>
            <pc:docMk/>
            <pc:sldMk cId="888167858" sldId="256"/>
            <ac:spMk id="4" creationId="{7584A14E-2EE9-8E28-7331-18410B9086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10/9/2025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989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25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10/9/2025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0042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08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93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35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7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9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10/9/2025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23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59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89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10/9/2025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9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25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46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85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42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67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02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10/9/2025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53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52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6404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91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90490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9680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10/9/2025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797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98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10/9/2025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9809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60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10/9/2025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731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10/9/2025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497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10/9/2025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174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10/9/2025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10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10/9/2025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62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344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10/9/2025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9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10/9/2025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89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63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10/9/2025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24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10/9/2025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67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108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108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140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702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10/9/2025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427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635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77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10/9/2025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9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10/9/2025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777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69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0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reenlivingguy.com/2015/06/ev-connect-ge-charging-solutions-for-electric-vehicle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retro-vintage-car-moskvitch-412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essive-charlestown.com/2023/12/high-speed-electric-vehicle-charging.html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2324-37E6-C2EA-B8AB-3040ADFF0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697" y="836676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lang="en-IN" b="1" dirty="0"/>
              <a:t>Smart Wireless EV Charging  And Billing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636B9-9B9E-1EFA-C962-64D75DD92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Autofit/>
          </a:bodyPr>
          <a:lstStyle/>
          <a:p>
            <a:r>
              <a:rPr lang="en-IN" sz="1600" b="1" i="1">
                <a:solidFill>
                  <a:schemeClr val="tx1"/>
                </a:solidFill>
              </a:rPr>
              <a:t>This project, "Wireless EV Charging using Arduino," aims to design and implement a wireless charging system that can automatically detect a parked EV and initiate the charging process without human intervention. The system is controlled using an Arduino Uno, an hall sensor for vehicle detection, and a relay module to activate the charging coil And the cost  is charged accordingly.</a:t>
            </a:r>
          </a:p>
          <a:p>
            <a:endParaRPr lang="en-IN" sz="1600" b="1" i="1" dirty="0">
              <a:solidFill>
                <a:schemeClr val="tx1"/>
              </a:solidFill>
            </a:endParaRPr>
          </a:p>
        </p:txBody>
      </p:sp>
      <p:pic>
        <p:nvPicPr>
          <p:cNvPr id="5" name="Picture Placeholder 4" descr="A charging station on a street with cars parked on the side&#10;&#10;AI-generated content may be incorrect.">
            <a:extLst>
              <a:ext uri="{FF2B5EF4-FFF2-40B4-BE49-F238E27FC236}">
                <a16:creationId xmlns:a16="http://schemas.microsoft.com/office/drawing/2014/main" id="{9F35FCAD-D72E-6F3B-7088-031BDF478F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549" r="24549"/>
          <a:stretch>
            <a:fillRect/>
          </a:stretch>
        </p:blipFill>
        <p:spPr>
          <a:xfrm>
            <a:off x="7507097" y="0"/>
            <a:ext cx="4681728" cy="6858000"/>
          </a:xfrm>
        </p:spPr>
      </p:pic>
      <p:pic>
        <p:nvPicPr>
          <p:cNvPr id="7" name="Graphic 6" descr="Lightbulb with solid fill">
            <a:extLst>
              <a:ext uri="{FF2B5EF4-FFF2-40B4-BE49-F238E27FC236}">
                <a16:creationId xmlns:a16="http://schemas.microsoft.com/office/drawing/2014/main" id="{3461FC05-2DE1-F11E-9BBF-E1B63A4DA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0083" y="361507"/>
            <a:ext cx="1230654" cy="12306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4A14E-2EE9-8E28-7331-18410B90861A}"/>
              </a:ext>
            </a:extLst>
          </p:cNvPr>
          <p:cNvSpPr txBox="1"/>
          <p:nvPr/>
        </p:nvSpPr>
        <p:spPr>
          <a:xfrm>
            <a:off x="3870542" y="2567835"/>
            <a:ext cx="2680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GUIDE:-</a:t>
            </a:r>
            <a:r>
              <a:rPr lang="en-US" dirty="0" err="1"/>
              <a:t>Mrs</a:t>
            </a:r>
            <a:r>
              <a:rPr lang="en-US" dirty="0"/>
              <a:t> Asma </a:t>
            </a:r>
            <a:r>
              <a:rPr lang="en-US" dirty="0" err="1"/>
              <a:t>maam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16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FD4F-A12F-E574-C2C7-83C5D2CA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2" y="1000830"/>
            <a:ext cx="4647156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O</a:t>
            </a:r>
            <a:r>
              <a:rPr lang="en-IN" dirty="0"/>
              <a:t>BJECTIVE &amp;COMPONENTS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7AD0E7-6250-2241-4460-BCE5759376C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6272027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563041" y="369332"/>
          <a:ext cx="6178021" cy="588264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761814428"/>
                    </a:ext>
                  </a:extLst>
                </a:gridCol>
                <a:gridCol w="1616049">
                  <a:extLst>
                    <a:ext uri="{9D8B030D-6E8A-4147-A177-3AD203B41FA5}">
                      <a16:colId xmlns:a16="http://schemas.microsoft.com/office/drawing/2014/main" val="643346863"/>
                    </a:ext>
                  </a:extLst>
                </a:gridCol>
                <a:gridCol w="2977972">
                  <a:extLst>
                    <a:ext uri="{9D8B030D-6E8A-4147-A177-3AD203B41FA5}">
                      <a16:colId xmlns:a16="http://schemas.microsoft.com/office/drawing/2014/main" val="3158206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Component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Quantity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658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Arduino Nano / Uno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Main controller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54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RFID Reader (RC522) + Tags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Vehicle authentication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51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IR Sensor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Vehicle presence detection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78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Relay Module (5V)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Control wireless charger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711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Wireless Charging Module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Power transfer to EV battery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Real-Time Clock (DS3231)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Track charging duration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1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16x2 LCD Display (I2C)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Show UID, time, and billing info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81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EEPROM (built-in or external)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Store billing records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4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5V Adapter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Power supply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808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Jumper wires, breadboard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—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Connections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0858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45AC51-6701-7CAD-032D-34C0B53B80F2}"/>
              </a:ext>
            </a:extLst>
          </p:cNvPr>
          <p:cNvSpPr txBox="1"/>
          <p:nvPr/>
        </p:nvSpPr>
        <p:spPr>
          <a:xfrm>
            <a:off x="450938" y="4206287"/>
            <a:ext cx="4465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objective of this project is to develop a wireless EV charging station that can automatically detect an EV and initiate charging using an </a:t>
            </a:r>
            <a:r>
              <a:rPr lang="en-IN" b="1" dirty="0"/>
              <a:t>Arduino based</a:t>
            </a:r>
            <a:r>
              <a:rPr lang="en-IN" dirty="0"/>
              <a:t> control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B2FC3-6F97-C79A-6EA3-163DBA3A0EF9}"/>
              </a:ext>
            </a:extLst>
          </p:cNvPr>
          <p:cNvSpPr txBox="1"/>
          <p:nvPr/>
        </p:nvSpPr>
        <p:spPr>
          <a:xfrm>
            <a:off x="7789169" y="0"/>
            <a:ext cx="24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The system comprises: </a:t>
            </a:r>
          </a:p>
        </p:txBody>
      </p:sp>
    </p:spTree>
    <p:extLst>
      <p:ext uri="{BB962C8B-B14F-4D97-AF65-F5344CB8AC3E}">
        <p14:creationId xmlns:p14="http://schemas.microsoft.com/office/powerpoint/2010/main" val="374279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21C7-054E-3E7F-BC6A-2C95E44A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103120"/>
            <a:ext cx="4919241" cy="2624328"/>
          </a:xfrm>
        </p:spPr>
        <p:txBody>
          <a:bodyPr/>
          <a:lstStyle/>
          <a:p>
            <a:r>
              <a:rPr lang="en-US" b="1"/>
              <a:t>METHODOLOGY</a:t>
            </a:r>
            <a:endParaRPr lang="en-IN" b="1"/>
          </a:p>
        </p:txBody>
      </p:sp>
      <p:pic>
        <p:nvPicPr>
          <p:cNvPr id="11" name="Content Placeholder 10" descr="A diagram of a car with a circuit board&#10;&#10;AI-generated content may be incorrect.">
            <a:extLst>
              <a:ext uri="{FF2B5EF4-FFF2-40B4-BE49-F238E27FC236}">
                <a16:creationId xmlns:a16="http://schemas.microsoft.com/office/drawing/2014/main" id="{1F4AA27D-0378-E80F-7C36-12F8D191BC5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463" y="898525"/>
            <a:ext cx="373062" cy="373062"/>
          </a:xfr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892134D-10A1-1060-4E3C-F0A1B9C9AD49}"/>
              </a:ext>
            </a:extLst>
          </p:cNvPr>
          <p:cNvSpPr/>
          <p:nvPr/>
        </p:nvSpPr>
        <p:spPr>
          <a:xfrm>
            <a:off x="5219218" y="2109659"/>
            <a:ext cx="2303362" cy="1817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Step 4: Charging Activation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31075D-2328-68C4-12ED-4F3DD1A08D3A}"/>
              </a:ext>
            </a:extLst>
          </p:cNvPr>
          <p:cNvSpPr/>
          <p:nvPr/>
        </p:nvSpPr>
        <p:spPr>
          <a:xfrm>
            <a:off x="7522580" y="2085349"/>
            <a:ext cx="2303362" cy="1817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 Step 5: Monitoring and Control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1A8E4D-0939-CA94-9A8F-563D3479BD9E}"/>
              </a:ext>
            </a:extLst>
          </p:cNvPr>
          <p:cNvSpPr/>
          <p:nvPr/>
        </p:nvSpPr>
        <p:spPr>
          <a:xfrm>
            <a:off x="9825942" y="2097504"/>
            <a:ext cx="2303362" cy="1817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 Step 6:</a:t>
            </a:r>
          </a:p>
          <a:p>
            <a:pPr algn="ctr"/>
            <a:r>
              <a:rPr lang="en-US" b="1" dirty="0"/>
              <a:t> Billing System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4C3563-B8A2-33E6-E00F-90BA937824F2}"/>
              </a:ext>
            </a:extLst>
          </p:cNvPr>
          <p:cNvSpPr/>
          <p:nvPr/>
        </p:nvSpPr>
        <p:spPr>
          <a:xfrm>
            <a:off x="5219218" y="176552"/>
            <a:ext cx="2303362" cy="1817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Step 1: Power  supply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48D4C5-7732-E0C1-8F6B-3A9AAD43042D}"/>
              </a:ext>
            </a:extLst>
          </p:cNvPr>
          <p:cNvSpPr/>
          <p:nvPr/>
        </p:nvSpPr>
        <p:spPr>
          <a:xfrm>
            <a:off x="7522580" y="162393"/>
            <a:ext cx="2303362" cy="18172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Step 2: Wireless Transmission Setup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50B62D-A9E2-B648-E388-5C449BE6034C}"/>
              </a:ext>
            </a:extLst>
          </p:cNvPr>
          <p:cNvSpPr/>
          <p:nvPr/>
        </p:nvSpPr>
        <p:spPr>
          <a:xfrm>
            <a:off x="9825942" y="215258"/>
            <a:ext cx="2303362" cy="181722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Step 3: Vehicle Detection</a:t>
            </a:r>
          </a:p>
        </p:txBody>
      </p:sp>
      <p:pic>
        <p:nvPicPr>
          <p:cNvPr id="17" name="Graphic 16" descr="Electric car with solid fill">
            <a:extLst>
              <a:ext uri="{FF2B5EF4-FFF2-40B4-BE49-F238E27FC236}">
                <a16:creationId xmlns:a16="http://schemas.microsoft.com/office/drawing/2014/main" id="{1CD7692E-381D-D524-3054-9D0F072AE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7489" y="4311224"/>
            <a:ext cx="4017158" cy="2384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47A4EB-9474-96F9-473C-4A308277E0EE}"/>
              </a:ext>
            </a:extLst>
          </p:cNvPr>
          <p:cNvSpPr txBox="1"/>
          <p:nvPr/>
        </p:nvSpPr>
        <p:spPr>
          <a:xfrm>
            <a:off x="5614779" y="6049276"/>
            <a:ext cx="6118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Vehicle detection → RFID scan → gate opens → charging starts → billing displayed.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58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F4C7-510F-A4B1-8414-E1D34645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 anchor="b">
            <a:normAutofit/>
          </a:bodyPr>
          <a:lstStyle/>
          <a:p>
            <a:r>
              <a:rPr lang="en-US" dirty="0"/>
              <a:t>BLOCK DIAGRAM</a:t>
            </a:r>
            <a:endParaRPr lang="en-IN" dirty="0"/>
          </a:p>
        </p:txBody>
      </p:sp>
      <p:pic>
        <p:nvPicPr>
          <p:cNvPr id="9" name="Content Placeholder 8" descr="A diagram of an electronic system&#10;&#10;AI-generated content may be incorrect.">
            <a:extLst>
              <a:ext uri="{FF2B5EF4-FFF2-40B4-BE49-F238E27FC236}">
                <a16:creationId xmlns:a16="http://schemas.microsoft.com/office/drawing/2014/main" id="{0DE9B692-27D4-C63F-8486-056659F8C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1478" y="1362455"/>
            <a:ext cx="8656852" cy="495604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130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5173-2532-1AD6-C654-AFF3BB9B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06" y="-722376"/>
            <a:ext cx="4389120" cy="1444752"/>
          </a:xfrm>
        </p:spPr>
        <p:txBody>
          <a:bodyPr anchor="b">
            <a:normAutofit/>
          </a:bodyPr>
          <a:lstStyle/>
          <a:p>
            <a:r>
              <a:rPr lang="en-US" b="1" u="sng" dirty="0"/>
              <a:t>SYSTEM WORK FLOW</a:t>
            </a:r>
            <a:endParaRPr lang="en-IN" b="1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356176-27E0-70AA-F6B0-8DF0F4484ACD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537492" y="956237"/>
            <a:ext cx="4389120" cy="41696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Authorization:</a:t>
            </a:r>
            <a:r>
              <a:rPr lang="en-US" altLang="en-US" sz="1600" dirty="0"/>
              <a:t> The user presents the </a:t>
            </a:r>
            <a:r>
              <a:rPr lang="en-US" altLang="en-US" sz="1600" b="1" dirty="0"/>
              <a:t>RFID Tag</a:t>
            </a:r>
            <a:r>
              <a:rPr lang="en-US" altLang="en-US" sz="1600" dirty="0"/>
              <a:t> to the </a:t>
            </a:r>
            <a:r>
              <a:rPr lang="en-US" altLang="en-US" sz="1600" b="1" dirty="0"/>
              <a:t>RFID Reader</a:t>
            </a:r>
            <a:r>
              <a:rPr lang="en-US" altLang="en-US" sz="1600" dirty="0"/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Control:</a:t>
            </a:r>
            <a:r>
              <a:rPr lang="en-US" altLang="en-US" sz="1600" dirty="0"/>
              <a:t> The </a:t>
            </a:r>
            <a:r>
              <a:rPr lang="en-US" altLang="en-US" sz="1600" b="1" dirty="0"/>
              <a:t>Arduino Uno</a:t>
            </a:r>
            <a:r>
              <a:rPr lang="en-US" altLang="en-US" sz="1600" dirty="0"/>
              <a:t> processes the ID.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Access:</a:t>
            </a:r>
            <a:r>
              <a:rPr lang="en-US" altLang="en-US" sz="1600" dirty="0"/>
              <a:t> If authorized, the Arduino sends a signal to the </a:t>
            </a:r>
            <a:r>
              <a:rPr lang="en-US" altLang="en-US" sz="1600" b="1" dirty="0"/>
              <a:t>Servo Motor</a:t>
            </a:r>
            <a:r>
              <a:rPr lang="en-US" altLang="en-US" sz="1600" dirty="0"/>
              <a:t> via the </a:t>
            </a:r>
            <a:r>
              <a:rPr lang="en-US" altLang="en-US" sz="1600" b="1" dirty="0"/>
              <a:t>Gate Control</a:t>
            </a:r>
            <a:r>
              <a:rPr lang="en-US" altLang="en-US" sz="1600" dirty="0"/>
              <a:t> line to open the gate.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Charging Start:</a:t>
            </a:r>
            <a:r>
              <a:rPr lang="en-US" altLang="en-US" sz="1600" dirty="0"/>
              <a:t> Once the EV is in position, the Arduino activates the </a:t>
            </a:r>
            <a:r>
              <a:rPr lang="en-US" altLang="en-US" sz="1600" b="1" dirty="0"/>
              <a:t>Relay</a:t>
            </a:r>
            <a:r>
              <a:rPr lang="en-US" altLang="en-US" sz="1600" dirty="0"/>
              <a:t>, which sends power to the </a:t>
            </a:r>
            <a:r>
              <a:rPr lang="en-US" altLang="en-US" sz="1600" b="1" dirty="0"/>
              <a:t>Transmitter Coil</a:t>
            </a:r>
            <a:r>
              <a:rPr lang="en-US" altLang="en-US" sz="1600" dirty="0"/>
              <a:t>, starting the wireless charging process. Simultaneously, the Arduino records the </a:t>
            </a:r>
            <a:r>
              <a:rPr lang="en-US" altLang="en-US" sz="1600" b="1" dirty="0"/>
              <a:t>Start Time</a:t>
            </a:r>
            <a:r>
              <a:rPr lang="en-US" altLang="en-US" sz="1600" dirty="0"/>
              <a:t> from the </a:t>
            </a:r>
            <a:r>
              <a:rPr lang="en-US" altLang="en-US" sz="1600" b="1" dirty="0"/>
              <a:t>RTC Module</a:t>
            </a:r>
            <a:r>
              <a:rPr lang="en-US" altLang="en-US" sz="1600" dirty="0"/>
              <a:t> and displays "Charging" on the </a:t>
            </a:r>
            <a:r>
              <a:rPr lang="en-US" altLang="en-US" sz="1600" b="1" dirty="0"/>
              <a:t>LCD</a:t>
            </a:r>
            <a:r>
              <a:rPr lang="en-US" altLang="en-US" sz="1600" dirty="0"/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Charging End &amp; Billing:</a:t>
            </a:r>
            <a:r>
              <a:rPr lang="en-US" altLang="en-US" sz="1600" dirty="0"/>
              <a:t> When the charging stops, the Arduino records the </a:t>
            </a:r>
            <a:r>
              <a:rPr lang="en-US" altLang="en-US" sz="1600" b="1" dirty="0"/>
              <a:t>End Time</a:t>
            </a:r>
            <a:r>
              <a:rPr lang="en-US" altLang="en-US" sz="1600" dirty="0"/>
              <a:t> from the </a:t>
            </a:r>
            <a:r>
              <a:rPr lang="en-US" altLang="en-US" sz="1600" b="1" dirty="0"/>
              <a:t>RTC</a:t>
            </a:r>
            <a:r>
              <a:rPr lang="en-US" altLang="en-US" sz="1600" dirty="0"/>
              <a:t>. The </a:t>
            </a:r>
            <a:r>
              <a:rPr lang="en-US" altLang="en-US" sz="1600" b="1" dirty="0"/>
              <a:t>Billing Unit</a:t>
            </a:r>
            <a:r>
              <a:rPr lang="en-US" altLang="en-US" sz="1600" dirty="0"/>
              <a:t> calculates the total cost based on the duration, and the total cost is shown on the </a:t>
            </a:r>
            <a:r>
              <a:rPr lang="en-US" altLang="en-US" sz="1600" b="1" dirty="0"/>
              <a:t>LCD</a:t>
            </a:r>
            <a:r>
              <a:rPr lang="en-US" altLang="en-US" sz="1600" dirty="0"/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/>
              <a:t>Exit:</a:t>
            </a:r>
            <a:r>
              <a:rPr lang="en-US" altLang="en-US" sz="1600" dirty="0"/>
              <a:t> The gate opens (controlled by the Servo Motor) to allow the EV to exit.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88EFB64-5F24-F9F5-BC26-2BE0AFCE58D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819" r="18819"/>
          <a:stretch/>
        </p:blipFill>
        <p:spPr>
          <a:xfrm>
            <a:off x="5660866" y="0"/>
            <a:ext cx="6407168" cy="6858000"/>
          </a:xfr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D42E51-588B-A34E-4B8B-6DDA13FC2A3B}"/>
              </a:ext>
            </a:extLst>
          </p:cNvPr>
          <p:cNvSpPr txBox="1"/>
          <p:nvPr/>
        </p:nvSpPr>
        <p:spPr>
          <a:xfrm>
            <a:off x="9821906" y="6657945"/>
            <a:ext cx="224612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foto.wuestenigel.com/retro-vintage-car-moskvitch-41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N" sz="700">
              <a:solidFill>
                <a:srgbClr val="FFFFFF"/>
              </a:solidFill>
            </a:endParaRPr>
          </a:p>
        </p:txBody>
      </p:sp>
      <p:pic>
        <p:nvPicPr>
          <p:cNvPr id="5" name="Graphic 4" descr="High voltage with solid fill">
            <a:extLst>
              <a:ext uri="{FF2B5EF4-FFF2-40B4-BE49-F238E27FC236}">
                <a16:creationId xmlns:a16="http://schemas.microsoft.com/office/drawing/2014/main" id="{6954A020-3BE0-41B1-EC7B-2F4833C62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-750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5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05C9-E7BE-060B-BED1-F9788EEA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 anchor="b">
            <a:normAutofit/>
          </a:bodyPr>
          <a:lstStyle/>
          <a:p>
            <a:r>
              <a:rPr lang="en-US" u="sng" dirty="0"/>
              <a:t>PIN DIAGRAM</a:t>
            </a:r>
            <a:endParaRPr lang="en-IN" u="sng" dirty="0"/>
          </a:p>
        </p:txBody>
      </p:sp>
      <p:pic>
        <p:nvPicPr>
          <p:cNvPr id="6" name="Content Placeholder 5" descr="A diagram of a car wiring&#10;&#10;AI-generated content may be incorrect.">
            <a:extLst>
              <a:ext uri="{FF2B5EF4-FFF2-40B4-BE49-F238E27FC236}">
                <a16:creationId xmlns:a16="http://schemas.microsoft.com/office/drawing/2014/main" id="{CE6FB182-5ECF-F5CC-7D6C-C4C99EDD9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45" y="1362455"/>
            <a:ext cx="6400800" cy="4956047"/>
          </a:xfrm>
          <a:noFill/>
        </p:spPr>
      </p:pic>
    </p:spTree>
    <p:extLst>
      <p:ext uri="{BB962C8B-B14F-4D97-AF65-F5344CB8AC3E}">
        <p14:creationId xmlns:p14="http://schemas.microsoft.com/office/powerpoint/2010/main" val="390153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9C13-0C06-08EC-2FAE-0A00EE0F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>
            <a:normAutofit/>
          </a:bodyPr>
          <a:lstStyle/>
          <a:p>
            <a:r>
              <a:rPr lang="en-US" u="sng" dirty="0"/>
              <a:t>CORE FEATURES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58680-B675-E1B6-3B95-13BCAB460A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500" b="1"/>
          </a:p>
          <a:p>
            <a:pPr>
              <a:lnSpc>
                <a:spcPct val="110000"/>
              </a:lnSpc>
            </a:pPr>
            <a:r>
              <a:rPr lang="en-IN" sz="1500" b="1"/>
              <a:t>RFID-based vehicle authentication</a:t>
            </a:r>
          </a:p>
          <a:p>
            <a:pPr>
              <a:lnSpc>
                <a:spcPct val="110000"/>
              </a:lnSpc>
            </a:pPr>
            <a:r>
              <a:rPr lang="en-IN" sz="1500" b="1"/>
              <a:t>IR sensor for vehicle detection</a:t>
            </a:r>
          </a:p>
          <a:p>
            <a:pPr>
              <a:lnSpc>
                <a:spcPct val="110000"/>
              </a:lnSpc>
            </a:pPr>
            <a:r>
              <a:rPr lang="en-IN" sz="1500" b="1"/>
              <a:t>Wireless charging activation via relay</a:t>
            </a:r>
          </a:p>
          <a:p>
            <a:pPr>
              <a:lnSpc>
                <a:spcPct val="110000"/>
              </a:lnSpc>
            </a:pPr>
            <a:r>
              <a:rPr lang="en-IN" sz="1500" b="1"/>
              <a:t>Real-time clock (RTC) for accurate time tracking</a:t>
            </a:r>
          </a:p>
          <a:p>
            <a:pPr>
              <a:lnSpc>
                <a:spcPct val="110000"/>
              </a:lnSpc>
            </a:pPr>
            <a:r>
              <a:rPr lang="en-IN" sz="1500" b="1"/>
              <a:t>Billing calculation based on duration</a:t>
            </a:r>
          </a:p>
          <a:p>
            <a:pPr>
              <a:lnSpc>
                <a:spcPct val="110000"/>
              </a:lnSpc>
            </a:pPr>
            <a:r>
              <a:rPr lang="en-IN" sz="1500" b="1"/>
              <a:t>LCD display for showing UID, time, and cost</a:t>
            </a:r>
          </a:p>
          <a:p>
            <a:pPr>
              <a:lnSpc>
                <a:spcPct val="110000"/>
              </a:lnSpc>
            </a:pPr>
            <a:r>
              <a:rPr lang="en-IN" sz="1500" b="1"/>
              <a:t>EEPROM for storing billing logs</a:t>
            </a:r>
          </a:p>
          <a:p>
            <a:pPr>
              <a:lnSpc>
                <a:spcPct val="110000"/>
              </a:lnSpc>
            </a:pPr>
            <a:endParaRPr lang="en-IN" sz="1500" b="1"/>
          </a:p>
        </p:txBody>
      </p:sp>
      <p:pic>
        <p:nvPicPr>
          <p:cNvPr id="6" name="Picture Placeholder 5" descr="A row of gas pumps&#10;&#10;AI-generated content may be incorrect.">
            <a:extLst>
              <a:ext uri="{FF2B5EF4-FFF2-40B4-BE49-F238E27FC236}">
                <a16:creationId xmlns:a16="http://schemas.microsoft.com/office/drawing/2014/main" id="{C5C49C96-F254-C9F8-6891-7A0B77E2D4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831" r="15831"/>
          <a:stretch/>
        </p:blipFill>
        <p:spPr>
          <a:xfrm>
            <a:off x="4802819" y="122"/>
            <a:ext cx="7265819" cy="6857755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40685-E23F-1F49-88B8-291824075FFA}"/>
              </a:ext>
            </a:extLst>
          </p:cNvPr>
          <p:cNvSpPr txBox="1"/>
          <p:nvPr/>
        </p:nvSpPr>
        <p:spPr>
          <a:xfrm>
            <a:off x="9691064" y="6657822"/>
            <a:ext cx="237757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www.progressive-charlestown.com/2023/12/high-speed-electric-vehicle-charg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700">
              <a:solidFill>
                <a:srgbClr val="FFFFFF"/>
              </a:solidFill>
            </a:endParaRPr>
          </a:p>
        </p:txBody>
      </p:sp>
      <p:pic>
        <p:nvPicPr>
          <p:cNvPr id="5" name="Graphic 4" descr="Business Growth with solid fill">
            <a:extLst>
              <a:ext uri="{FF2B5EF4-FFF2-40B4-BE49-F238E27FC236}">
                <a16:creationId xmlns:a16="http://schemas.microsoft.com/office/drawing/2014/main" id="{1A63F55F-6B98-0CFF-D024-6E406015FD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0332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8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FC29EED-87B8-994D-62C2-D11339BA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pic>
        <p:nvPicPr>
          <p:cNvPr id="6" name="Graphic 5" descr="Brainstorm with solid fill">
            <a:extLst>
              <a:ext uri="{FF2B5EF4-FFF2-40B4-BE49-F238E27FC236}">
                <a16:creationId xmlns:a16="http://schemas.microsoft.com/office/drawing/2014/main" id="{7422A129-FAB5-671A-D56C-C6A015BAF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07" y="722376"/>
            <a:ext cx="5413248" cy="54132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A152A-4F2D-9A7C-0A0B-B94FA7C58176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272784" y="2834640"/>
            <a:ext cx="5138928" cy="2999232"/>
          </a:xfrm>
        </p:spPr>
        <p:txBody>
          <a:bodyPr anchor="b">
            <a:normAutofit/>
          </a:bodyPr>
          <a:lstStyle/>
          <a:p>
            <a:pPr indent="0">
              <a:buNone/>
            </a:pPr>
            <a:r>
              <a:rPr lang="en-IN" sz="1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Wireless EV Charging System using Arduino demonstrates an efficient, contactless method for charging electric vehicles. </a:t>
            </a:r>
          </a:p>
          <a:p>
            <a:pPr indent="0">
              <a:buNone/>
            </a:pPr>
            <a:r>
              <a:rPr lang="en-IN" sz="1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Overall, this system represents a step toward smart, automated, and sustainable EV infrastructure, paving the way for next-generation transportation solutions </a:t>
            </a:r>
          </a:p>
          <a:p>
            <a:pPr indent="0">
              <a:buNone/>
            </a:pPr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450263780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530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Light</vt:lpstr>
      <vt:lpstr>Arial</vt:lpstr>
      <vt:lpstr>Chroma</vt:lpstr>
      <vt:lpstr>Smart Wireless EV Charging  And Billing System </vt:lpstr>
      <vt:lpstr>OBJECTIVE &amp;COMPONENTS</vt:lpstr>
      <vt:lpstr>METHODOLOGY</vt:lpstr>
      <vt:lpstr>BLOCK DIAGRAM</vt:lpstr>
      <vt:lpstr>SYSTEM WORK FLOW</vt:lpstr>
      <vt:lpstr>PIN DIAGRAM</vt:lpstr>
      <vt:lpstr>CORE FEATURES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M</dc:creator>
  <cp:lastModifiedBy>Samarth M</cp:lastModifiedBy>
  <cp:revision>3</cp:revision>
  <dcterms:created xsi:type="dcterms:W3CDTF">2025-10-03T02:00:18Z</dcterms:created>
  <dcterms:modified xsi:type="dcterms:W3CDTF">2025-10-09T09:06:10Z</dcterms:modified>
</cp:coreProperties>
</file>